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68" r:id="rId4"/>
    <p:sldId id="259" r:id="rId5"/>
    <p:sldId id="270" r:id="rId6"/>
    <p:sldId id="275" r:id="rId7"/>
    <p:sldId id="282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48ACE-61D6-49EC-AF1E-931B9E1049DF}" v="4" dt="2024-05-19T16:43:21.794"/>
    <p1510:client id="{59A8D0E1-2D48-47DE-82D8-524E2942DE54}" v="183" dt="2024-05-19T18:49:40.535"/>
    <p1510:client id="{B7D58FE2-F112-4D6D-87DA-AD213E6E7228}" v="63" dt="2024-05-19T17:13:37.105"/>
    <p1510:client id="{BE6F8BCB-D62A-4C32-AFB9-12C67AF8AEC7}" v="50" dt="2024-05-19T15:19:20.114"/>
    <p1510:client id="{BE78D7D0-ACDF-4228-8EEB-FC06B600BA69}" v="160" dt="2024-05-19T14:47:30.004"/>
    <p1510:client id="{BF3CB496-EF14-459A-AB44-2227A69DEBA9}" v="91" dt="2024-05-18T18:04:17.714"/>
    <p1510:client id="{E2C0EFE8-4505-4B99-A664-804C61EE605C}" v="216" dt="2024-05-19T18:19:06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547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8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8878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561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27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525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837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528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693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25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939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5078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4375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207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5501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5381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503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206A0B-6E1C-4458-B0EC-CA1FC2A562BA}" type="datetimeFigureOut">
              <a:rPr lang="en-SG" smtClean="0"/>
              <a:t>19/5/2024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8D370-DB7C-4327-B578-2DF68EA189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86503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518" y="335902"/>
            <a:ext cx="8323151" cy="1875452"/>
          </a:xfrm>
        </p:spPr>
        <p:txBody>
          <a:bodyPr>
            <a:normAutofit/>
          </a:bodyPr>
          <a:lstStyle/>
          <a:p>
            <a:r>
              <a:rPr lang="en-US" sz="3600"/>
              <a:t> </a:t>
            </a:r>
            <a:r>
              <a:rPr lang="en-US" sz="2800" b="1">
                <a:solidFill>
                  <a:schemeClr val="tx1"/>
                </a:solidFill>
              </a:rPr>
              <a:t>Welcome  to  our   presentation</a:t>
            </a:r>
            <a:br>
              <a:rPr lang="en-US" sz="2800" b="1"/>
            </a:br>
            <a:r>
              <a:rPr lang="en-US" sz="2800" b="1">
                <a:solidFill>
                  <a:srgbClr val="C00000"/>
                </a:solidFill>
              </a:rPr>
              <a:t>                   Group-02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709127" y="1610726"/>
            <a:ext cx="11047444" cy="47523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Submitted To – </a:t>
            </a:r>
            <a:r>
              <a:rPr lang="en-US" sz="2400" dirty="0"/>
              <a:t>Prof. Dr. </a:t>
            </a: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Md. </a:t>
            </a:r>
            <a:r>
              <a:rPr lang="en-US" sz="2400" dirty="0" err="1">
                <a:effectLst/>
                <a:latin typeface="Times New Roman"/>
                <a:ea typeface="Calibri"/>
                <a:cs typeface="Times New Roman"/>
              </a:rPr>
              <a:t>Mozammel</a:t>
            </a:r>
            <a:r>
              <a:rPr lang="en-US" sz="2400" dirty="0">
                <a:effectLst/>
                <a:latin typeface="Times New Roman"/>
                <a:ea typeface="Calibri"/>
                <a:cs typeface="Times New Roman"/>
              </a:rPr>
              <a:t> Huq Azad Khan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 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/>
            </a:endParaRPr>
          </a:p>
          <a:p>
            <a:endParaRPr lang="en-MY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/>
                <a:cs typeface="Times New Roman"/>
              </a:rPr>
              <a:t>Submitted By</a:t>
            </a:r>
            <a:r>
              <a:rPr lang="en-US" b="1" dirty="0">
                <a:latin typeface="Times New Roman"/>
                <a:ea typeface="Times New Roman" panose="02020603050405020304" pitchFamily="18" charset="0"/>
                <a:cs typeface="Times New Roman"/>
              </a:rPr>
              <a:t> –</a:t>
            </a:r>
            <a:endParaRPr lang="en-US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1. Md. </a:t>
            </a:r>
            <a:r>
              <a:rPr lang="en-US" dirty="0" err="1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Shafiur</a:t>
            </a:r>
            <a:r>
              <a:rPr lang="en-US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Alam</a:t>
            </a:r>
            <a:r>
              <a:rPr lang="en-US" dirty="0"/>
              <a:t>     ID : 2023-3-60-400 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Sadia Afrin</a:t>
            </a:r>
            <a:r>
              <a:rPr lang="en-MY" dirty="0">
                <a:latin typeface="Calibri"/>
                <a:ea typeface="Times New Roman" panose="02020603050405020304" pitchFamily="18" charset="0"/>
                <a:cs typeface="Calibri"/>
              </a:rPr>
              <a:t>           </a:t>
            </a:r>
            <a:r>
              <a:rPr lang="en-MY" dirty="0">
                <a:latin typeface="Calibri"/>
                <a:cs typeface="Calibri"/>
              </a:rPr>
              <a:t>      </a:t>
            </a:r>
            <a:r>
              <a:rPr lang="en-US" dirty="0"/>
              <a:t>ID : 2023-03-60-064</a:t>
            </a:r>
          </a:p>
          <a:p>
            <a:pPr marL="0" indent="0">
              <a:buNone/>
            </a:pPr>
            <a:r>
              <a:rPr lang="en-US" dirty="0"/>
              <a:t>3.</a:t>
            </a:r>
            <a:r>
              <a:rPr lang="en-US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Esrat Jahan Jerin </a:t>
            </a:r>
            <a:r>
              <a:rPr lang="en-US" dirty="0"/>
              <a:t>     ID : 2023-3-60-271</a:t>
            </a:r>
          </a:p>
          <a:p>
            <a:r>
              <a:rPr lang="en-US" dirty="0"/>
              <a:t>Course code : CSE 106</a:t>
            </a:r>
          </a:p>
          <a:p>
            <a:r>
              <a:rPr lang="en-US" dirty="0"/>
              <a:t>Sec: 04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3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</a:t>
            </a:r>
            <a:r>
              <a:rPr lang="en-US" b="1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Using C program, randomly generate an undirected graph represented by adjacency matrix with n = 1000 vertices.</a:t>
            </a:r>
          </a:p>
          <a:p>
            <a:r>
              <a:rPr lang="en-US"/>
              <a:t>Determine number of edges in the graph. Determine degrees of all vertices. Show that Handshaking logic holds. Determine computational time in this step (except printing time) in </a:t>
            </a:r>
            <a:r>
              <a:rPr lang="en-US" err="1"/>
              <a:t>ms.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2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CFC8-DB6A-1547-0FB0-FF5B54DC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UNDIRECTED GRAPH</a:t>
            </a:r>
            <a:endParaRPr lang="en-MY" b="1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E6C682-F320-8C22-C0E8-702BE1F2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404723" cy="4195481"/>
          </a:xfrm>
        </p:spPr>
        <p:txBody>
          <a:bodyPr/>
          <a:lstStyle/>
          <a:p>
            <a:r>
              <a:rPr lang="en-US"/>
              <a:t>C Program</a:t>
            </a:r>
          </a:p>
          <a:p>
            <a:r>
              <a:rPr lang="en-US"/>
              <a:t>Adjacency Matrix</a:t>
            </a:r>
          </a:p>
          <a:p>
            <a:r>
              <a:rPr lang="en-US"/>
              <a:t>Edges</a:t>
            </a:r>
          </a:p>
          <a:p>
            <a:r>
              <a:rPr lang="en-US"/>
              <a:t>Vertices	</a:t>
            </a:r>
          </a:p>
          <a:p>
            <a:r>
              <a:rPr lang="en-US"/>
              <a:t>Handshaking Logic</a:t>
            </a:r>
          </a:p>
          <a:p>
            <a:r>
              <a:rPr lang="en-US"/>
              <a:t>Computational Time</a:t>
            </a:r>
          </a:p>
          <a:p>
            <a:pPr marL="0" indent="0">
              <a:buNone/>
            </a:pPr>
            <a:endParaRPr lang="en-MY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C490E3-7FF5-5D9A-8DC2-E713CB093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24" y="2127381"/>
            <a:ext cx="5089111" cy="25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9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cap="all" spc="-1">
                <a:solidFill>
                  <a:srgbClr val="C00000"/>
                </a:solidFill>
                <a:latin typeface="Franklin Gothic Demi"/>
              </a:rPr>
              <a:t>THE OUTPUTS OF THE </a:t>
            </a:r>
            <a:r>
              <a:rPr lang="en-US" sz="2800" u="sng" cap="all" spc="-1">
                <a:solidFill>
                  <a:srgbClr val="C00000"/>
                </a:solidFill>
                <a:latin typeface="Franklin Gothic Demi"/>
              </a:rPr>
              <a:t>PROGRAM</a:t>
            </a:r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When n= 1000</a:t>
            </a:r>
          </a:p>
          <a:p>
            <a:r>
              <a:rPr lang="en-US"/>
              <a:t>The computational time is </a:t>
            </a:r>
            <a:r>
              <a:rPr lang="en-US">
                <a:latin typeface="Century Gothic"/>
                <a:ea typeface="Calibri"/>
                <a:cs typeface="Times New Roman"/>
              </a:rPr>
              <a:t>25.000000 </a:t>
            </a:r>
            <a:r>
              <a:rPr lang="en-SG" sz="1800">
                <a:latin typeface="Calibri"/>
                <a:ea typeface="Calibri"/>
                <a:cs typeface="Times New Roman"/>
              </a:rPr>
              <a:t>m</a:t>
            </a:r>
            <a:r>
              <a:rPr lang="en-US"/>
              <a:t>s                       </a:t>
            </a:r>
            <a:br>
              <a:rPr lang="en-US"/>
            </a:br>
            <a:r>
              <a:rPr lang="en-US"/>
              <a:t> </a:t>
            </a:r>
          </a:p>
          <a:p>
            <a:r>
              <a:rPr lang="en-US"/>
              <a:t>When n= 2000</a:t>
            </a:r>
          </a:p>
          <a:p>
            <a:r>
              <a:rPr lang="en-US"/>
              <a:t>The computational time is 72.000000 </a:t>
            </a:r>
            <a:r>
              <a:rPr lang="en-SG" sz="1800">
                <a:latin typeface="Calibri"/>
                <a:ea typeface="Calibri"/>
                <a:cs typeface="Calibri"/>
              </a:rPr>
              <a:t>m</a:t>
            </a:r>
            <a:r>
              <a:rPr lang="en-US"/>
              <a:t>s</a:t>
            </a:r>
            <a:br>
              <a:rPr lang="en-US"/>
            </a:br>
            <a:endParaRPr lang="en-US"/>
          </a:p>
          <a:p>
            <a:r>
              <a:rPr lang="en-US"/>
              <a:t>When time is n=3000</a:t>
            </a:r>
            <a:br>
              <a:rPr lang="en-US"/>
            </a:br>
            <a:r>
              <a:rPr lang="en-US"/>
              <a:t>The computational time is </a:t>
            </a:r>
            <a:r>
              <a:rPr lang="en-US">
                <a:latin typeface="Century Gothic"/>
                <a:ea typeface="Calibri"/>
                <a:cs typeface="Times New Roman"/>
              </a:rPr>
              <a:t>165.000000 </a:t>
            </a:r>
            <a:r>
              <a:rPr lang="en-SG" sz="1800">
                <a:latin typeface="Calibri"/>
                <a:ea typeface="Calibri"/>
                <a:cs typeface="Times New Roman"/>
              </a:rPr>
              <a:t>m</a:t>
            </a:r>
            <a:r>
              <a:rPr lang="en-US"/>
              <a:t>s</a:t>
            </a:r>
          </a:p>
          <a:p>
            <a:endParaRPr lang="en-US"/>
          </a:p>
          <a:p>
            <a:r>
              <a:rPr lang="en-US"/>
              <a:t>When n= 4000</a:t>
            </a:r>
            <a:br>
              <a:rPr lang="en-US"/>
            </a:br>
            <a:r>
              <a:rPr lang="en-US"/>
              <a:t>The computational time is 242.000000 </a:t>
            </a:r>
            <a:r>
              <a:rPr lang="en-SG" sz="1800">
                <a:latin typeface="Calibri"/>
                <a:ea typeface="Calibri"/>
                <a:cs typeface="Calibri"/>
              </a:rPr>
              <a:t>m</a:t>
            </a:r>
            <a:r>
              <a:rPr lang="en-US"/>
              <a:t>s</a:t>
            </a:r>
            <a:br>
              <a:rPr lang="en-US"/>
            </a:br>
            <a:endParaRPr lang="en-US"/>
          </a:p>
          <a:p>
            <a:r>
              <a:rPr lang="en-US"/>
              <a:t>When n= 5000</a:t>
            </a:r>
          </a:p>
          <a:p>
            <a:r>
              <a:rPr lang="en-US"/>
              <a:t>The computational time is </a:t>
            </a:r>
            <a:r>
              <a:rPr lang="en-US">
                <a:latin typeface="Century Gothic"/>
                <a:ea typeface="Calibri"/>
                <a:cs typeface="Times New Roman"/>
              </a:rPr>
              <a:t>435.000000 </a:t>
            </a:r>
            <a:r>
              <a:rPr lang="en-SG" sz="1800">
                <a:latin typeface="Calibri"/>
                <a:ea typeface="Calibri"/>
                <a:cs typeface="Times New Roman"/>
              </a:rPr>
              <a:t>m</a:t>
            </a:r>
            <a:r>
              <a:rPr lang="en-US"/>
              <a:t>s</a:t>
            </a:r>
          </a:p>
        </p:txBody>
      </p:sp>
      <p:pic>
        <p:nvPicPr>
          <p:cNvPr id="4" name="Picture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83FF197E-02E0-0D0A-3ADE-06E09DAC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984" y="2055693"/>
            <a:ext cx="4152900" cy="676275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7D3AEB-9A61-A1EF-FCEE-7BC77796C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73" y="3021772"/>
            <a:ext cx="4261957" cy="560456"/>
          </a:xfrm>
          <a:prstGeom prst="rect">
            <a:avLst/>
          </a:prstGeom>
        </p:spPr>
      </p:pic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2FDBF75A-D3B8-0FF3-1B36-827470A63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607" y="3765440"/>
            <a:ext cx="4324350" cy="771525"/>
          </a:xfrm>
          <a:prstGeom prst="rect">
            <a:avLst/>
          </a:prstGeom>
        </p:spPr>
      </p:pic>
      <p:pic>
        <p:nvPicPr>
          <p:cNvPr id="7" name="Picture 6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E869CAB0-DE2E-5E0A-278D-B13BE66DD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608" y="4775547"/>
            <a:ext cx="5305425" cy="885825"/>
          </a:xfrm>
          <a:prstGeom prst="rect">
            <a:avLst/>
          </a:prstGeom>
        </p:spPr>
      </p:pic>
      <p:pic>
        <p:nvPicPr>
          <p:cNvPr id="8" name="Picture 7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FAED0FD2-6FD2-505E-94B6-58D22B4C7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310" y="5813576"/>
            <a:ext cx="4329320" cy="87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77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1359-0B39-B789-F8D0-72DAA104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>
                <a:solidFill>
                  <a:schemeClr val="accent1"/>
                </a:solidFill>
              </a:rPr>
              <a:t>         Computational Time (</a:t>
            </a:r>
            <a:r>
              <a:rPr lang="en-GB" sz="2800" b="1" err="1">
                <a:solidFill>
                  <a:schemeClr val="accent1"/>
                </a:solidFill>
              </a:rPr>
              <a:t>ms</a:t>
            </a:r>
            <a:r>
              <a:rPr lang="en-GB" sz="2800" b="1">
                <a:solidFill>
                  <a:schemeClr val="accent1"/>
                </a:solidFill>
              </a:rPr>
              <a:t>)vs  Number of                                                   Vertices</a:t>
            </a:r>
          </a:p>
          <a:p>
            <a:endParaRPr lang="en-GB" sz="1800">
              <a:solidFill>
                <a:srgbClr val="00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7680EF-2297-78BA-D550-B433646847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21365"/>
              </p:ext>
            </p:extLst>
          </p:nvPr>
        </p:nvGraphicFramePr>
        <p:xfrm>
          <a:off x="1247087" y="1707581"/>
          <a:ext cx="8947149" cy="39594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27176">
                  <a:extLst>
                    <a:ext uri="{9D8B030D-6E8A-4147-A177-3AD203B41FA5}">
                      <a16:colId xmlns:a16="http://schemas.microsoft.com/office/drawing/2014/main" val="1264889890"/>
                    </a:ext>
                  </a:extLst>
                </a:gridCol>
                <a:gridCol w="4419973">
                  <a:extLst>
                    <a:ext uri="{9D8B030D-6E8A-4147-A177-3AD203B41FA5}">
                      <a16:colId xmlns:a16="http://schemas.microsoft.com/office/drawing/2014/main" val="2711088878"/>
                    </a:ext>
                  </a:extLst>
                </a:gridCol>
              </a:tblGrid>
              <a:tr h="612588"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            Computational Time (</a:t>
                      </a:r>
                      <a:r>
                        <a:rPr lang="en-GB" err="1">
                          <a:effectLst/>
                        </a:rPr>
                        <a:t>ms</a:t>
                      </a:r>
                      <a:r>
                        <a:rPr lang="en-GB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               Number of Vertices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63578"/>
                  </a:ext>
                </a:extLst>
              </a:tr>
              <a:tr h="567764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25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1000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2316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72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2000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139793"/>
                  </a:ext>
                </a:extLst>
              </a:tr>
              <a:tr h="702235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165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3000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232120"/>
                  </a:ext>
                </a:extLst>
              </a:tr>
              <a:tr h="7171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242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4000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621471"/>
                  </a:ext>
                </a:extLst>
              </a:tr>
              <a:tr h="851647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435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>
                          <a:effectLst/>
                        </a:rPr>
                        <a:t>5000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5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1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5FFC-C6DB-7CFA-1457-A45511E5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>
                <a:solidFill>
                  <a:schemeClr val="accent1"/>
                </a:solidFill>
              </a:rPr>
              <a:t>Ideal Graph</a:t>
            </a:r>
          </a:p>
        </p:txBody>
      </p:sp>
      <p:pic>
        <p:nvPicPr>
          <p:cNvPr id="6" name="Content Placeholder 5" descr="A graph with blue dots and numbers&#10;&#10;Description automatically generated">
            <a:extLst>
              <a:ext uri="{FF2B5EF4-FFF2-40B4-BE49-F238E27FC236}">
                <a16:creationId xmlns:a16="http://schemas.microsoft.com/office/drawing/2014/main" id="{A53B6F7B-5DAF-5261-D660-E55584368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728" y="1710361"/>
            <a:ext cx="9294098" cy="4538038"/>
          </a:xfrm>
        </p:spPr>
      </p:pic>
    </p:spTree>
    <p:extLst>
      <p:ext uri="{BB962C8B-B14F-4D97-AF65-F5344CB8AC3E}">
        <p14:creationId xmlns:p14="http://schemas.microsoft.com/office/powerpoint/2010/main" val="126287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342B-8DF2-8A23-2987-A8B04DB7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Derived equation from the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2D060-C589-D3B7-8B7C-03AE14002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Equation: 19.7x^2+20.1x+29.2</a:t>
            </a:r>
          </a:p>
          <a:p>
            <a:pPr>
              <a:buClr>
                <a:srgbClr val="8AD0D6"/>
              </a:buClr>
            </a:pPr>
            <a:r>
              <a:rPr lang="en-US" dirty="0"/>
              <a:t>g(n)=19.7n^2+20.1n+29.2</a:t>
            </a:r>
            <a:endParaRPr lang="en-US" dirty="0">
              <a:solidFill>
                <a:srgbClr val="000000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/>
              <a:t>Now,</a:t>
            </a:r>
            <a:r>
              <a:rPr lang="en-US" dirty="0">
                <a:solidFill>
                  <a:srgbClr val="FFFFFF"/>
                </a:solidFill>
              </a:rPr>
              <a:t>19.7n^2+20.1n+29.2&lt;=19.7n^2+20.1n^2+29.2n^2</a:t>
            </a:r>
            <a:endParaRPr lang="en-US" dirty="0">
              <a:solidFill>
                <a:srgbClr val="000000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FFFFFF"/>
                </a:solidFill>
              </a:rPr>
              <a:t>                                                                                         [n^2&gt;=n,n^2&gt;=1]</a:t>
            </a:r>
          </a:p>
          <a:p>
            <a:pPr>
              <a:buClr>
                <a:srgbClr val="8AD0D6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FFFFFF"/>
                </a:solidFill>
              </a:rPr>
              <a:t>19.7n^2+20.1n+29.2&lt;=69n^2  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FFFFFF"/>
                </a:solidFill>
              </a:rPr>
              <a:t>                                                 [k=1,c=69]</a:t>
            </a:r>
          </a:p>
          <a:p>
            <a:pPr>
              <a:buClr>
                <a:srgbClr val="8AD0D6"/>
              </a:buClr>
            </a:pPr>
            <a:r>
              <a:rPr lang="en-US" dirty="0">
                <a:solidFill>
                  <a:srgbClr val="FFFFFF"/>
                </a:solidFill>
              </a:rPr>
              <a:t>g(n)=19.7n^2+20.1n+29.2=O(n^2)</a:t>
            </a:r>
          </a:p>
          <a:p>
            <a:pPr>
              <a:buClr>
                <a:srgbClr val="8AD0D6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endParaRPr lang="en-US">
              <a:solidFill>
                <a:srgbClr val="000000"/>
              </a:solidFill>
            </a:endParaRPr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note on top of a keyboard&#10;&#10;Description automatically generated">
            <a:extLst>
              <a:ext uri="{FF2B5EF4-FFF2-40B4-BE49-F238E27FC236}">
                <a16:creationId xmlns:a16="http://schemas.microsoft.com/office/drawing/2014/main" id="{72A13B79-ED3D-2256-C283-2D577EEFF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143941" y="643467"/>
            <a:ext cx="9904117" cy="557106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73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 Welcome  to  our   presentation                    Group-02</vt:lpstr>
      <vt:lpstr>   Introduction</vt:lpstr>
      <vt:lpstr>UNDIRECTED GRAPH</vt:lpstr>
      <vt:lpstr>THE OUTPUTS OF THE PROGRAM</vt:lpstr>
      <vt:lpstr>         Computational Time (ms)vs  Number of                                                   Vertices </vt:lpstr>
      <vt:lpstr>Ideal Graph</vt:lpstr>
      <vt:lpstr>Derived equation from the graph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 to  our   presentation</dc:title>
  <dc:creator>rhrobin439@gmail.com</dc:creator>
  <cp:revision>145</cp:revision>
  <dcterms:created xsi:type="dcterms:W3CDTF">2021-09-06T15:39:33Z</dcterms:created>
  <dcterms:modified xsi:type="dcterms:W3CDTF">2024-05-19T18:49:56Z</dcterms:modified>
</cp:coreProperties>
</file>